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Vertical Approach in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BBCC"/>
                </a:solidFill>
                <a:latin typeface="Calibri"/>
              </a:defRPr>
            </a:pPr>
            <a:r>
              <a:t>A Strategic Guide to Building Industry-Specific Software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206240"/>
            <a:ext cx="3047695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Calibri"/>
              </a:defRPr>
            </a:pPr>
            <a:r>
              <a:t>What every founder, product leader, and GTM team needs to know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EFF"/>
                </a:solidFill>
                <a:latin typeface="Calibri"/>
              </a:defRPr>
            </a:pPr>
            <a:r>
              <a:t>What Is a Vertical SaaS Approach?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EFF"/>
                </a:solidFill>
                <a:latin typeface="Calibri"/>
              </a:defRPr>
            </a:pPr>
            <a: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Software built for ONE specific industry or niche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Deeply tailored workflows, compliance &amp; terminology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End-to-end solution replacing horizontal point tools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Examples: Veeva (pharma), Procore (construction), Toast (restaurants)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7373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5CFC"/>
                </a:solidFill>
                <a:latin typeface="Calibri"/>
              </a:defRPr>
            </a:pPr>
            <a:r>
              <a:t>Vertical vs. Horizontal 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46888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Vertical: Deep domain expertise  |  Horizontal: Broad feature set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Vertical: Smaller TAM, higher win rate  |  Horizontal: Large TAM, more competition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Vertical: Industry-specific compliance  |  Horizontal: General-purpose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Vertical: Higher NRR &amp; stickiness  |  Horizontal: Easier initial adoption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8D"/>
                </a:solidFill>
                <a:latin typeface="Calibri"/>
              </a:defRPr>
            </a:pPr>
            <a:r>
              <a:t>Why Go Vertical? The Strategic Advantages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651760" cy="438912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EFF"/>
                </a:solidFill>
                <a:latin typeface="Calibri"/>
              </a:defRPr>
            </a:pPr>
            <a:r>
              <a:t>Higher Win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Prospects see you as the expert. You speak their language,</a:t>
            </a:r>
            <a:br/>
            <a:r>
              <a:t>understand their pain, and demo workflows they recognize.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645920"/>
            <a:ext cx="2651760" cy="438912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00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920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8D"/>
                </a:solidFill>
                <a:latin typeface="Calibri"/>
              </a:defRPr>
            </a:pPr>
            <a:r>
              <a:t>Stronger Retention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74320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Deep integration into daily operations = high switching costs.</a:t>
            </a:r>
            <a:br/>
            <a:r>
              <a:t>Vertical SaaS often sees 120-140%+ NRR.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651760" cy="438912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5CFC"/>
                </a:solidFill>
                <a:latin typeface="Calibri"/>
              </a:defRPr>
            </a:pPr>
            <a:r>
              <a:t>Efficient GTM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Concentrated buyer personas, focused conferences,</a:t>
            </a:r>
            <a:br/>
            <a:r>
              <a:t>industry publications, and word-of-mouth referrals.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45920"/>
            <a:ext cx="2651760" cy="438912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920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42"/>
                </a:solidFill>
                <a:latin typeface="Calibri"/>
              </a:defRPr>
            </a:pPr>
            <a:r>
              <a:t>Pricing 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74320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Industry-specific value justifies premium pricing.</a:t>
            </a:r>
            <a:br/>
            <a:r>
              <a:t>Customers pay for outcomes, not generic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42"/>
                </a:solidFill>
                <a:latin typeface="Calibri"/>
              </a:defRPr>
            </a:pPr>
            <a:r>
              <a:t>Choosing the Right Vertical: Selection Criteria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6002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544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Market Size &amp; Density  --  Is the TAM large enough? Are buyers concentrated or fragmented?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2860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Underserved by Tech  --  Are incumbents still using spreadsheets, paper, or legacy on-prem systems?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971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Regulatory Complexity  --  Industries with compliance needs (HIPAA, SOX, FDA) create moats for vertical players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6576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11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Willingness to Pay  --  Does the industry have healthy margins? Do they already budget for software?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3434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2976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Domain Access  --  Do you have founder-market fit? Can you access early design partners?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50292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9834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Workflow Standardization  --  Are core workflows consistent enough to build a scalable product?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7150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669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Expansion Potential  --  Can you layer on payments, financing, marketplace, or data products?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EFF"/>
                </a:solidFill>
                <a:latin typeface="Calibri"/>
              </a:defRPr>
            </a:pPr>
            <a:r>
              <a:t>Product Strategy: Building for the Vertical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566160" cy="475488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EFF"/>
                </a:solidFill>
                <a:latin typeface="Calibri"/>
              </a:defRPr>
            </a:pPr>
            <a:r>
              <a:t>1. Deep Domain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Map the industry value chain end to end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Build domain-specific data models &amp; objects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Use industry terminology in UX (not generic labels)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Embed compliance rules into the product itself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566160" cy="475488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00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737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8D"/>
                </a:solidFill>
                <a:latin typeface="Calibri"/>
              </a:defRPr>
            </a:pPr>
            <a:r>
              <a:t>2. Workflow-First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Shadow real users in their environment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Digitize existing paper / manual processes first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Automate the boring, error-prone steps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Design for the least technical user persona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566160" cy="475488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737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5CFC"/>
                </a:solidFill>
                <a:latin typeface="Calibri"/>
              </a:defRPr>
            </a:pPr>
            <a:r>
              <a:t>3. Platform &amp; Ecosystem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Integrate with industry-specific tools &amp; ERPs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Build APIs for partner / channel integrations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Create a data layer for analytics &amp; benchmarking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Plan for embedded fintech (payments, lending, insurance)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8D"/>
                </a:solidFill>
                <a:latin typeface="Calibri"/>
              </a:defRPr>
            </a:pPr>
            <a:r>
              <a:t>Go-to-Market Playbook for Vertical SaaS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515600" cy="109728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EFF"/>
                </a:solidFill>
                <a:latin typeface="Calibri"/>
              </a:defRPr>
            </a:pPr>
            <a:r>
              <a:t>Land with a Wedge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Start with ONE critical pain point. Win a single workflow before expanding to a full suite. Early adopters become your evangelists.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39"/>
            <a:ext cx="10515600" cy="109728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00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260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8D"/>
                </a:solidFill>
                <a:latin typeface="Calibri"/>
              </a:defRPr>
            </a:pPr>
            <a:r>
              <a:t>Industry-Native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7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Hire reps from the industry, not just SaaS. Attend vertical trade shows. Publish thought leadership in trade publications.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515600" cy="109728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5CFC"/>
                </a:solidFill>
                <a:latin typeface="Calibri"/>
              </a:defRPr>
            </a:pPr>
            <a:r>
              <a:t>Customer-Led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Case studies, ROI calculators, peer referrals. In tight verticals, reputation spreads fast -- both good and bad.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59"/>
            <a:ext cx="10515600" cy="109728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48639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42"/>
                </a:solidFill>
                <a:latin typeface="Calibri"/>
              </a:defRPr>
            </a:pPr>
            <a:r>
              <a:t>Expand Revenue Per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94359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Layer on modules, payments, data products, and professional services. Vertical SaaS can often 3-5x initial ACV over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5CFC"/>
                </a:solidFill>
                <a:latin typeface="Calibri"/>
              </a:defRPr>
            </a:pPr>
            <a:r>
              <a:t>Key Metrics &amp; Benchmarks for Vertical SaaS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645920"/>
            <a:ext cx="2148840" cy="438912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Net Revenue</a:t>
            </a:r>
            <a:br/>
            <a:r>
              <a:t>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EFF"/>
                </a:solidFill>
                <a:latin typeface="Calibri"/>
              </a:defRPr>
            </a:pPr>
            <a:r>
              <a:t>120-140%+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49039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Best-in-class verticals expand</a:t>
            </a:r>
            <a:br/>
            <a:r>
              <a:t>within accounts aggressively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79" y="1645920"/>
            <a:ext cx="2148840" cy="438912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00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39" y="18288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Gross</a:t>
            </a:r>
            <a:br/>
            <a:r>
              <a:t>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39" y="27432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98D"/>
                </a:solidFill>
                <a:latin typeface="Calibri"/>
              </a:defRPr>
            </a:pPr>
            <a:r>
              <a:t>70-80%+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39" y="3749039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Can be lower if services-heavy;</a:t>
            </a:r>
            <a:br/>
            <a:r>
              <a:t>aim for software-like margins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645920"/>
            <a:ext cx="2148840" cy="438912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8288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CAC Payback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7432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5CFC"/>
                </a:solidFill>
                <a:latin typeface="Calibri"/>
              </a:defRPr>
            </a:pPr>
            <a:r>
              <a:t>12-18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749039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Efficient GTM due to</a:t>
            </a:r>
            <a:br/>
            <a:r>
              <a:t>concentrated buyer 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19" y="1645920"/>
            <a:ext cx="2148840" cy="438912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18288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Logo</a:t>
            </a:r>
            <a:br/>
            <a:r>
              <a:t>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7432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8C42"/>
                </a:solidFill>
                <a:latin typeface="Calibri"/>
              </a:defRPr>
            </a:pPr>
            <a:r>
              <a:t>90-95%+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749039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High switching costs</a:t>
            </a:r>
            <a:br/>
            <a:r>
              <a:t>keep churn 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1645920"/>
            <a:ext cx="2148840" cy="438912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18288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Market</a:t>
            </a:r>
            <a:br/>
            <a:r>
              <a:t>Penetration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27432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EFF"/>
                </a:solidFill>
                <a:latin typeface="Calibri"/>
              </a:defRPr>
            </a:pPr>
            <a:r>
              <a:t>10-30%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749039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Realistic ceiling within a</a:t>
            </a:r>
            <a:br/>
            <a:r>
              <a:t>single vertical segment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42"/>
                </a:solidFill>
                <a:latin typeface="Calibri"/>
              </a:defRPr>
            </a:pPr>
            <a:r>
              <a:t>Common Pitfalls to Avoid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520440" cy="228600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Calibri"/>
              </a:defRPr>
            </a:pPr>
            <a:r>
              <a:t>Going Too Broad Too Soon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Resist the temptation to serve adjacent verticals before dominating your first one. Depth beats breadth early 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554480"/>
            <a:ext cx="3520440" cy="228600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79" y="173736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Calibri"/>
              </a:defRPr>
            </a:pPr>
            <a:r>
              <a:t>Ignoring Services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79" y="233172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Many verticals expect onboarding, training, and customization. Build a services motion -- don't treat it as a distraction.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554480"/>
            <a:ext cx="3520440" cy="228600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19" y="173736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Calibri"/>
              </a:defRPr>
            </a:pPr>
            <a:r>
              <a:t>Underestimating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233172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Regulatory requirements aren't optional. Bake compliance (HIPAA, PCI, SOC 2, industry regs) into the product from day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3520440" cy="228600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Calibri"/>
              </a:defRPr>
            </a:pPr>
            <a:r>
              <a:t>Building for Power Users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920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Your ICP may include non-technical users. If the UX requires training, you'll lose deals to simpler (even inferior)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4114800"/>
            <a:ext cx="3520440" cy="228600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429768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Calibri"/>
              </a:defRPr>
            </a:pPr>
            <a:r>
              <a:t>Neglecting Data &amp;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48920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Your aggregated data is a strategic asset. Industry benchmarking and insights can become a standalone revenue stream.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4114800"/>
            <a:ext cx="3520440" cy="228600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429768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Calibri"/>
              </a:defRPr>
            </a:pPr>
            <a:r>
              <a:t>Over-Customizing Per 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48920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Custom work that only one customer needs erodes margins. Build configurable, not custom. Say no to one-off requests.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EFF"/>
                </a:solidFill>
                <a:latin typeface="Calibri"/>
              </a:defRPr>
            </a:pPr>
            <a:r>
              <a:t>Scaling Your Vertical SaaS: The Expansion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651760" cy="457200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EFF"/>
                </a:solidFill>
                <a:latin typeface="Calibri"/>
              </a:defRPr>
            </a:pPr>
            <a:r>
              <a:t>Phase 1</a:t>
            </a:r>
            <a:br/>
            <a:r>
              <a:t>Wedge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Calibri"/>
              </a:defRPr>
            </a:pPr>
            <a:r>
              <a:t>Single killer workflow</a:t>
            </a:r>
            <a:br/>
            <a:r>
              <a:t>5-20 design partners</a:t>
            </a:r>
            <a:br/>
            <a:r>
              <a:t>Prove ROI in one use case</a:t>
            </a:r>
            <a:br/>
            <a:r>
              <a:t>Achieve product-market fit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0400" y="3657600"/>
            <a:ext cx="228600" cy="320040"/>
          </a:xfrm>
          <a:prstGeom prst="rightArrow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37560" y="1645920"/>
            <a:ext cx="2651760" cy="457200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00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98D"/>
                </a:solidFill>
                <a:latin typeface="Calibri"/>
              </a:defRPr>
            </a:pPr>
            <a:r>
              <a:t>Phase 2</a:t>
            </a:r>
            <a:br/>
            <a:r>
              <a:t>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92608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Calibri"/>
              </a:defRPr>
            </a:pPr>
            <a:r>
              <a:t>Add adjacent workflows</a:t>
            </a:r>
            <a:br/>
            <a:r>
              <a:t>Become system of record</a:t>
            </a:r>
            <a:br/>
            <a:r>
              <a:t>Launch self-serve onboarding</a:t>
            </a:r>
            <a:br/>
            <a:r>
              <a:t>Hit $1-5M ARR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80760" y="3657600"/>
            <a:ext cx="228600" cy="320040"/>
          </a:xfrm>
          <a:prstGeom prst="rightArrow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651760" cy="457200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5CFC"/>
                </a:solidFill>
                <a:latin typeface="Calibri"/>
              </a:defRPr>
            </a:pPr>
            <a:r>
              <a:t>Phase 3</a:t>
            </a:r>
            <a:br/>
            <a:r>
              <a:t>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Calibri"/>
              </a:defRPr>
            </a:pPr>
            <a:r>
              <a:t>APIs &amp; integrations layer</a:t>
            </a:r>
            <a:br/>
            <a:r>
              <a:t>Embedded fintech</a:t>
            </a:r>
            <a:br/>
            <a:r>
              <a:t>Marketplace / app store</a:t>
            </a:r>
            <a:br/>
            <a:r>
              <a:t>Hit $10-30M ARR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61120" y="3657600"/>
            <a:ext cx="228600" cy="320040"/>
          </a:xfrm>
          <a:prstGeom prst="rightArrow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98280" y="1645920"/>
            <a:ext cx="2651760" cy="4572000"/>
          </a:xfrm>
          <a:prstGeom prst="roundRect">
            <a:avLst/>
          </a:prstGeom>
          <a:solidFill>
            <a:srgbClr val="262640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42"/>
                </a:solidFill>
                <a:latin typeface="Calibri"/>
              </a:defRPr>
            </a:pPr>
            <a:r>
              <a:t>Phase 4</a:t>
            </a:r>
            <a:br/>
            <a:r>
              <a:t>Ecosystem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92608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Calibri"/>
              </a:defRPr>
            </a:pPr>
            <a:r>
              <a:t>Data &amp; benchmarking products</a:t>
            </a:r>
            <a:br/>
            <a:r>
              <a:t>Adjacent vertical expansion</a:t>
            </a:r>
            <a:br/>
            <a:r>
              <a:t>M&amp;A bolt-ons</a:t>
            </a:r>
            <a:br/>
            <a:r>
              <a:t>Scale to $50M+ ARR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74520"/>
            <a:ext cx="365760" cy="36576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2F"/>
                </a:solidFill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8288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Go deep before going wide -- dominate one vertical before expanding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624328"/>
            <a:ext cx="365760" cy="36576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2F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57860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Build with domain experts, not just engineers -- hire from the industry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374135"/>
            <a:ext cx="365760" cy="36576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2F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328415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Compliance and workflows ARE the product -- not afterthoughts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123944"/>
            <a:ext cx="365760" cy="36576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2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078224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Your GTM is your moat -- industry relationships compound over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873751"/>
            <a:ext cx="365760" cy="36576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2F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828031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Layer revenue streams -- software, payments, data,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623560"/>
            <a:ext cx="365760" cy="36576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2F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5778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Vertical SaaS businesses command premium valuations (10-20x+ ARR) due to stickiness and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