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65760"/>
            <a:ext cx="11430000" cy="6126480"/>
          </a:xfrm>
          <a:prstGeom prst="roundRect">
            <a:avLst>
              <a:gd name="adj" fmla="val 3000"/>
            </a:avLst>
          </a:prstGeom>
          <a:solidFill>
            <a:srgbClr val="2B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Roboto"/>
              </a:rPr>
              <a:t>Driving Value Through
KPI-Driven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566160"/>
            <a:ext cx="2286000" cy="50800"/>
          </a:xfrm>
          <a:prstGeom prst="rect">
            <a:avLst/>
          </a:prstGeom>
          <a:solidFill>
            <a:srgbClr val="F05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BBFC7"/>
                </a:solidFill>
                <a:latin typeface="Roboto"/>
              </a:rPr>
              <a:t>Van inzicht naar actie per afdeling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B8F"/>
                </a:solidFill>
                <a:latin typeface="Roboto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303A"/>
                </a:solidFill>
                <a:latin typeface="Roboto"/>
              </a:rPr>
              <a:t>Waarom KPI-gedreven werken?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B8F"/>
                </a:solidFill>
                <a:latin typeface="Roboto"/>
              </a:rPr>
              <a:t>De kernboodschap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15600" cy="4114800"/>
          </a:xfrm>
          <a:prstGeom prst="roundRect">
            <a:avLst>
              <a:gd name="adj" fmla="val 6000"/>
            </a:avLst>
          </a:prstGeom>
          <a:solidFill>
            <a:srgbClr val="2B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031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51760"/>
            <a:ext cx="9875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FD5"/>
                </a:solidFill>
                <a:latin typeface="Roboto"/>
              </a:rPr>
              <a:t>Zonder duidelijke KPI's  --&gt;  geen focus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FD5"/>
                </a:solidFill>
                <a:latin typeface="Robot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FD5"/>
                </a:solidFill>
                <a:latin typeface="Roboto"/>
              </a:rPr>
              <a:t>Zonder focus  --&gt;  geen voorspelbare resultaten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FD5"/>
                </a:solidFill>
                <a:latin typeface="Robot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FD5"/>
                </a:solidFill>
                <a:latin typeface="Roboto"/>
              </a:rPr>
              <a:t>Zonder resultaten  --&gt;  geen schaalbare groei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551E"/>
                </a:solidFill>
                <a:latin typeface="Roboto"/>
              </a:rPr>
              <a:t>Elk team moet sturen op meetbare waarde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303A"/>
                </a:solidFill>
                <a:latin typeface="Roboto"/>
              </a:rPr>
              <a:t>Een manier van werken, meerdere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B8F"/>
                </a:solidFill>
                <a:latin typeface="Roboto"/>
              </a:rPr>
              <a:t>Ons uitgangspunt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3D8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Elk team heeft: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51760"/>
            <a:ext cx="4389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Een duidelijke doelstelling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Een set KPI's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Inzicht in bijdrage aan totaalresultaat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6E0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KPI's zijn: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651760"/>
            <a:ext cx="4389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Beinvloedbaar door het team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Meetbaar en concreet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Gekoppeld aan waarde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303A"/>
                </a:solidFill>
                <a:latin typeface="Roboto"/>
              </a:rPr>
              <a:t>Balans tussen centrale sturing en team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B8F"/>
                </a:solidFill>
                <a:latin typeface="Roboto"/>
              </a:rPr>
              <a:t>Top-down + Bottom-up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029200" cy="3657600"/>
          </a:xfrm>
          <a:prstGeom prst="roundRect">
            <a:avLst>
              <a:gd name="adj" fmla="val 6000"/>
            </a:avLst>
          </a:prstGeom>
          <a:solidFill>
            <a:srgbClr val="2B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Top-down KPI's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5176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Strategische doelen organisatie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Financiele performance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Klantimpact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029200" cy="3657600"/>
          </a:xfrm>
          <a:prstGeom prst="roundRect">
            <a:avLst>
              <a:gd name="adj" fmla="val 6000"/>
            </a:avLst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Bottom-up KPI's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65176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Team-specifieke metrics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Operationele drivers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Dagelijkse sturing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760720"/>
            <a:ext cx="5760720" cy="640080"/>
          </a:xfrm>
          <a:prstGeom prst="roundRect">
            <a:avLst>
              <a:gd name="adj" fmla="val 30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583387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303A"/>
                </a:solidFill>
                <a:latin typeface="Roboto"/>
              </a:rPr>
              <a:t>Samen vormen ze een KPI-structuur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303A"/>
                </a:solidFill>
                <a:latin typeface="Roboto"/>
              </a:rPr>
              <a:t>Van strategie naar operatie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B8F"/>
                </a:solidFill>
                <a:latin typeface="Roboto"/>
              </a:rPr>
              <a:t>Elke KPI moet leiden tot concreet gedrag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6E0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Roboto"/>
              </a:rPr>
              <a:t>Strategie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108960"/>
            <a:ext cx="13716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Roboto"/>
              </a:rPr>
              <a:t>Organisatie-
doelstellingen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81528" y="3383280"/>
            <a:ext cx="274320" cy="320040"/>
          </a:xfrm>
          <a:prstGeom prst="rightArrow">
            <a:avLst/>
          </a:prstGeom>
          <a:solidFill>
            <a:srgbClr val="6E7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03320" y="201168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2B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Roboto"/>
              </a:rPr>
              <a:t>Centrale KPI's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3108960"/>
            <a:ext cx="13716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Roboto"/>
              </a:rPr>
              <a:t>Financieel,
klant, groei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236208" y="3383280"/>
            <a:ext cx="274320" cy="320040"/>
          </a:xfrm>
          <a:prstGeom prst="rightArrow">
            <a:avLst/>
          </a:prstGeom>
          <a:solidFill>
            <a:srgbClr val="6E7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0" y="201168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3D8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Roboto"/>
              </a:rPr>
              <a:t>Team KPI's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3108960"/>
            <a:ext cx="13716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Roboto"/>
              </a:rPr>
              <a:t>Per afdeling
meetbaar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90888" y="3383280"/>
            <a:ext cx="274320" cy="320040"/>
          </a:xfrm>
          <a:prstGeom prst="rightArrow">
            <a:avLst/>
          </a:prstGeom>
          <a:solidFill>
            <a:srgbClr val="6E7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12680" y="201168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F05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Roboto"/>
              </a:rPr>
              <a:t>Dagelijkse Acties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61320" y="3108960"/>
            <a:ext cx="13716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Roboto"/>
              </a:rPr>
              <a:t>Concreet
gedrag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303A"/>
                </a:solidFill>
                <a:latin typeface="Roboto"/>
              </a:rPr>
              <a:t>Recurring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B8F"/>
                </a:solidFill>
                <a:latin typeface="Roboto"/>
              </a:rPr>
              <a:t>Sturen op klantwaarde en efficiency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383280" cy="3657600"/>
          </a:xfrm>
          <a:prstGeom prst="roundRect">
            <a:avLst>
              <a:gd name="adj" fmla="val 6000"/>
            </a:avLst>
          </a:prstGeom>
          <a:solidFill>
            <a:srgbClr val="3D8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NPS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5176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Klanttevredenheid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Klantbehoud versterken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Signalen vroeg oppakken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828800"/>
            <a:ext cx="3383280" cy="3657600"/>
          </a:xfrm>
          <a:prstGeom prst="roundRect">
            <a:avLst>
              <a:gd name="adj" fmla="val 6000"/>
            </a:avLst>
          </a:prstGeom>
          <a:solidFill>
            <a:srgbClr val="2B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eNPS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Medewerkerbetrokkenheid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Teamvitaliteit meten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Retentie waarborgen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828800"/>
            <a:ext cx="3383280" cy="3657600"/>
          </a:xfrm>
          <a:prstGeom prst="roundRect">
            <a:avLst>
              <a:gd name="adj" fmla="val 6000"/>
            </a:avLst>
          </a:prstGeom>
          <a:solidFill>
            <a:srgbClr val="6E0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Contribution /
Cost to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5176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Efficiente service delivery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Schaalbaarheid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Waarde per klant optimaliseren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303A"/>
                </a:solidFill>
                <a:latin typeface="Roboto"/>
              </a:rPr>
              <a:t>Consulting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B8F"/>
                </a:solidFill>
                <a:latin typeface="Roboto"/>
              </a:rPr>
              <a:t>Sturen op waardecreatie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3D8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tNPS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Onboarding / implementatie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Klanttevredenheid bij trajectory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Kwaliteit van oplevering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82880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2B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eNPS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5176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Medewerkerbetrokkenheid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Teamdynamiek en groei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Consultants als ambassadeurs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Revenue per FTE /
Billability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65176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Productiviteit per consultant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Effectieve inzet capaciteit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Financiele gezondheid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182880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05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Proven Value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65176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(Toekomst) Tijd met/voor klant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Aantoonbare waardecreatie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Meetbare klantimpact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5760720"/>
            <a:ext cx="7589520" cy="640080"/>
          </a:xfrm>
          <a:prstGeom prst="roundRect">
            <a:avLst>
              <a:gd name="adj" fmla="val 30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5833872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303A"/>
                </a:solidFill>
                <a:latin typeface="Roboto"/>
              </a:rPr>
              <a:t>Belangrijke shift: van uren schrijven naar aantoonbare klantwaarde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303A"/>
                </a:solidFill>
                <a:latin typeface="Roboto"/>
              </a:rPr>
              <a:t>KC - Knowledge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B8F"/>
                </a:solidFill>
                <a:latin typeface="Roboto"/>
              </a:rPr>
              <a:t>Sturen op kwaliteit en adoptie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383280" cy="3657600"/>
          </a:xfrm>
          <a:prstGeom prst="roundRect">
            <a:avLst>
              <a:gd name="adj" fmla="val 6000"/>
            </a:avLst>
          </a:prstGeom>
          <a:solidFill>
            <a:srgbClr val="3D8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Kennis &amp; Kwaliteit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5176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Kennisborging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Kwaliteitsstandaarden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Kennisdeling bevorderen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828800"/>
            <a:ext cx="3383280" cy="3657600"/>
          </a:xfrm>
          <a:prstGeom prst="roundRect">
            <a:avLst>
              <a:gd name="adj" fmla="val 6000"/>
            </a:avLst>
          </a:prstGeom>
          <a:solidFill>
            <a:srgbClr val="2B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Compliance &amp;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Risicobeheersing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Naleving van regelgeving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Audit-readiness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828800"/>
            <a:ext cx="3383280" cy="3657600"/>
          </a:xfrm>
          <a:prstGeom prst="roundRect">
            <a:avLst>
              <a:gd name="adj" fmla="val 6000"/>
            </a:avLst>
          </a:prstGeom>
          <a:solidFill>
            <a:srgbClr val="6E0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oboto"/>
              </a:rPr>
              <a:t>Training &amp;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5176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Gebruik van oplossingen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Adoptiegraad verhogen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Roboto"/>
              </a:rPr>
              <a:t>Continue ontwikkeling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303A"/>
                </a:solidFill>
                <a:latin typeface="Roboto"/>
              </a:rPr>
              <a:t>Ownership bij de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B8F"/>
                </a:solidFill>
                <a:latin typeface="Roboto"/>
              </a:rPr>
              <a:t>Wat verwachten we van elk team?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6E0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0200" y="21945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22585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E0A4A"/>
                </a:solidFill>
                <a:latin typeface="Robot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Roboto"/>
              </a:rPr>
              <a:t>Begrijp je KPI's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Roboto"/>
              </a:rPr>
              <a:t>Weet wat je meet en
waarom het belangrijk 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82880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2B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21945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2585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B303A"/>
                </a:solidFill>
                <a:latin typeface="Robot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Roboto"/>
              </a:rPr>
              <a:t>Weet hoe je ze
beinvloedt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9319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Roboto"/>
              </a:rPr>
              <a:t>Ken de hefbomen die
je als team kunt gebruiken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3D8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0920" y="21945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2585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D85B0"/>
                </a:solidFill>
                <a:latin typeface="Robot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Roboto"/>
              </a:rPr>
              <a:t>Stuur actief bij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319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Roboto"/>
              </a:rPr>
              <a:t>Wacht niet af maar neem
initiatief om bij te sturen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82880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05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80" y="21945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22585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551E"/>
                </a:solidFill>
                <a:latin typeface="Robot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Roboto"/>
              </a:rPr>
              <a:t>Maak impact
zichtbaar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9319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Roboto"/>
              </a:rPr>
              <a:t>Laat resultaten zien
en deel successen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